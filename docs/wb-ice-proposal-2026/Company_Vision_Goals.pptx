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projects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</c:v>
                </c:pt>
                <c:pt idx="1">
                  <c:v>40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Government maintenance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IT services</c:v>
                </c:pt>
              </c:strCache>
            </c:strRef>
          </c:tx>
          <c:spPr>
            <a:solidFill>
              <a:srgbClr val="5B8DB8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25</c:v>
                </c:pt>
                <c:pt idx="2">
                  <c:v>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Products / SaaS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3</c:v>
                  </c:pt>
                  <c:pt idx="2">
                    <c:v>Year 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35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motto. The vision is long-term; the mission lists the five things we do, in order: deliver, sustain, extend, productise, give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 targets are indicative planning goals. The key message: we win with government, stay through maintenance, then scale into private IT and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2% figure is a proposal and can be adjusted. Keeping the fund board-governed and separate from procurement protects both the company and every partner who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[COMPANY NAME]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that serves Bengal.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Bengal  ·  Maintain for Bengal  ·  Scale from Bengal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029200" cy="3429000"/>
          </a:xfrm>
          <a:prstGeom prst="roundRect">
            <a:avLst>
              <a:gd name="adj" fmla="val 3200"/>
            </a:avLst>
          </a:prstGeom>
          <a:solidFill>
            <a:srgbClr val="15293F"/>
          </a:solidFill>
          <a:ln w="12700">
            <a:solidFill>
              <a:srgbClr val="1529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42316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468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Vision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08960"/>
            <a:ext cx="4526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West Bengal's most trusted home-grown technology partner, making governance faster, fairer and more transparent, and taking Bengal-built digital products to India and the world.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852160" y="2194560"/>
            <a:ext cx="5788152" cy="3429000"/>
          </a:xfrm>
          <a:prstGeom prst="roundRect">
            <a:avLst>
              <a:gd name="adj" fmla="val 3200"/>
            </a:avLst>
          </a:prstGeom>
          <a:solidFill>
            <a:srgbClr val="15293F"/>
          </a:solidFill>
          <a:ln w="12700">
            <a:solidFill>
              <a:srgbClr val="1529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26480" y="242316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Mission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063240"/>
            <a:ext cx="5349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outcome-linked digital solutions for state departments.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behind every system for years through dependable maintenance.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 same capability to Bengal's enterprises and MSMEs.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proven solutions into products with recurring revenue.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back: </a:t>
            </a:r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tech jobs in Bengal and commit a fixed share of revenue to society.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779776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79776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outcomes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010912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10912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technology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242048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42048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 talent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473184" y="5897880"/>
            <a:ext cx="2139696" cy="502920"/>
          </a:xfrm>
          <a:prstGeom prst="roundRect">
            <a:avLst>
              <a:gd name="adj" fmla="val 49091"/>
            </a:avLst>
          </a:prstGeom>
          <a:solidFill>
            <a:srgbClr val="1F3A5F"/>
          </a:solidFill>
          <a:ln w="12700">
            <a:solidFill>
              <a:srgbClr val="4A648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73184" y="589788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prosperity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going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government solutions, to long-term maintenance, to private IT, to our own products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7717536" cy="0"/>
          </a:xfrm>
          <a:prstGeom prst="line">
            <a:avLst/>
          </a:prstGeom>
          <a:noFill/>
          <a:ln w="25400">
            <a:solidFill>
              <a:srgbClr val="CBD5E1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12 MONTHS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3566160" cy="297180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paid pilots with the ICE Department (Karma Praman, Sabuj Shilpa)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on GeM; apply for Webel Technology empanelment; begin ISO 27001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team of 12–15 in Kolkata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47091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709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First ₹1–2 cr revenue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07408" y="169164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740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93208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 YEARS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93208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407408" y="2468880"/>
            <a:ext cx="3566160" cy="297180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36008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department solutions live, each with a multi-year maintenance contract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IT for Bengal industry: carbon and CBAM compliance, MSME automation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50–80; campus hiring from state colleges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36008" y="47091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36008" y="4709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₹10–15 cr revenue, 30%+ recurring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66176" y="1691640"/>
            <a:ext cx="548640" cy="548640"/>
          </a:xfrm>
          <a:prstGeom prst="ellipse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6617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51976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– 5+ YEARS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951976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Products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266176" y="2468880"/>
            <a:ext cx="3566160" cy="2971800"/>
          </a:xfrm>
          <a:prstGeom prst="roundRect">
            <a:avLst>
              <a:gd name="adj" fmla="val 3077"/>
            </a:avLst>
          </a:prstGeom>
          <a:solidFill>
            <a:srgbClr val="F3F6FA"/>
          </a:solidFill>
          <a:ln w="12700">
            <a:solidFill>
              <a:srgbClr val="F3F6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94776" y="26974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our engines (DMRV, rules-as-code clearances, incentive verification) to other states and enterprises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subscriptions for industry compliance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 as our delivery hub for India-wide clients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494776" y="4709160"/>
            <a:ext cx="3108960" cy="548640"/>
          </a:xfrm>
          <a:prstGeom prst="roundRect">
            <a:avLst>
              <a:gd name="adj" fmla="val 1333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494776" y="47091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40%+ revenue from products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focus: prove value to the West Bengal ICE Department with fast, low-risk pilots, then earn long-term trust through maintenance that never lets a system go stale.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grow, and how we give back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revenue mix (%)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002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92240" y="1234440"/>
            <a:ext cx="5148072" cy="5029200"/>
          </a:xfrm>
          <a:prstGeom prst="roundRect">
            <a:avLst>
              <a:gd name="adj" fmla="val 218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63040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SOCIAL COMMITMENT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0" y="17830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2%</a:t>
            </a:r>
            <a:endParaRPr lang="en-US" sz="6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1965960"/>
            <a:ext cx="2770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annual revenue, from year one, to a Bengal Social Impact Fund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0" y="3017520"/>
            <a:ext cx="44165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areas: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for youth, artisan and MSME training, women entrepreneurs, STEM labs in schools.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representatives and local bodies can propose programmes for their areas.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&amp; reported: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by our Board under Companies Act Schedule VII areas, with an annual public report.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F6C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separate: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fund is independent of any contract. We win work only through open, transparent procurement.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[Company Name]: Vision, Mission &amp; Goals</dc:title>
  <dc:subject>PptxGenJS Presentation</dc:subject>
  <dc:creator>PptxGenJS</dc:creator>
  <cp:lastModifiedBy>PptxGenJS</cp:lastModifiedBy>
  <cp:revision>1</cp:revision>
  <dcterms:created xsi:type="dcterms:W3CDTF">2026-09-24T05:31:58Z</dcterms:created>
  <dcterms:modified xsi:type="dcterms:W3CDTF">2026-09-24T05:31:58Z</dcterms:modified>
</cp:coreProperties>
</file>