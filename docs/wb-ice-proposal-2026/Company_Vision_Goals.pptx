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 projects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3</c:v>
                  </c:pt>
                  <c:pt idx="2">
                    <c:v>Year 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Government maintenance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3</c:v>
                  </c:pt>
                  <c:pt idx="2">
                    <c:v>Year 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25</c:v>
                </c:pt>
                <c:pt idx="2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Private IT services</c:v>
                </c:pt>
              </c:strCache>
            </c:strRef>
          </c:tx>
          <c:spPr>
            <a:solidFill>
              <a:srgbClr val="5B8DB8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3</c:v>
                  </c:pt>
                  <c:pt idx="2">
                    <c:v>Year 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</c:v>
                </c:pt>
                <c:pt idx="1">
                  <c:v>25</c:v>
                </c:pt>
                <c:pt idx="2">
                  <c:v>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Products / SaaS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3</c:v>
                  </c:pt>
                  <c:pt idx="2">
                    <c:v>Year 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35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motto. The vision is long-term; the mission lists the five things we do, in order: deliver, sustain, extend, productise, give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targets are indicative planning goals. The key message: we win with government, stay through maintenance, then scale into private IT and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1% floor keeps the promise real in lean early years; the step-up to 2% of revenue or 10% of net profit (whichever is higher) grows with the company. Figures are proposals to confirm with our chartered accountant (80G structuring). Keeping the fund board-governed and separate from procurement protects both the company and every partner who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KIRNOVA TECHNOLOGIES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11480"/>
            <a:ext cx="5971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Kirnova</a:t>
            </a:r>
            <a:pPr algn="r"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kiran (a ray of light) + nova (new):  </a:t>
            </a:r>
            <a:pPr algn="r" indent="0" marL="0">
              <a:buNone/>
            </a:pPr>
            <a:r>
              <a:rPr lang="en-US" sz="1300" i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ray of light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that serves Bengal.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Bengal  ·  Maintain for Bengal  ·  Scale from Bengal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0" cy="3429000"/>
          </a:xfrm>
          <a:prstGeom prst="roundRect">
            <a:avLst>
              <a:gd name="adj" fmla="val 3200"/>
            </a:avLst>
          </a:prstGeom>
          <a:solidFill>
            <a:srgbClr val="15293F"/>
          </a:solidFill>
          <a:ln w="12700">
            <a:solidFill>
              <a:srgbClr val="1529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68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West Bengal's most trusted home-grown technology partner, making governance faster, fairer and more transparent, and taking Bengal-built digital products to India and the world.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852160" y="2194560"/>
            <a:ext cx="5788152" cy="3429000"/>
          </a:xfrm>
          <a:prstGeom prst="roundRect">
            <a:avLst>
              <a:gd name="adj" fmla="val 3200"/>
            </a:avLst>
          </a:prstGeom>
          <a:solidFill>
            <a:srgbClr val="15293F"/>
          </a:solidFill>
          <a:ln w="12700">
            <a:solidFill>
              <a:srgbClr val="1529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42316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Mission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06324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outcome-linked digital solutions for state departments.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behind every system for years through dependable maintenance.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same capability to Bengal's enterprises and MSMEs.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proven solutions into products with recurring revenue.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back: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tech jobs in Bengal and commit a fixed share of revenue to society.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897880"/>
            <a:ext cx="2139696" cy="502920"/>
          </a:xfrm>
          <a:prstGeom prst="roundRect">
            <a:avLst>
              <a:gd name="adj" fmla="val 49091"/>
            </a:avLst>
          </a:prstGeom>
          <a:solidFill>
            <a:srgbClr val="1F3A5F"/>
          </a:solidFill>
          <a:ln w="12700">
            <a:solidFill>
              <a:srgbClr val="4A6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8978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79776" y="5897880"/>
            <a:ext cx="2139696" cy="502920"/>
          </a:xfrm>
          <a:prstGeom prst="roundRect">
            <a:avLst>
              <a:gd name="adj" fmla="val 49091"/>
            </a:avLst>
          </a:prstGeom>
          <a:solidFill>
            <a:srgbClr val="1F3A5F"/>
          </a:solidFill>
          <a:ln w="12700">
            <a:solidFill>
              <a:srgbClr val="4A6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79776" y="58978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10912" y="5897880"/>
            <a:ext cx="2139696" cy="502920"/>
          </a:xfrm>
          <a:prstGeom prst="roundRect">
            <a:avLst>
              <a:gd name="adj" fmla="val 49091"/>
            </a:avLst>
          </a:prstGeom>
          <a:solidFill>
            <a:srgbClr val="1F3A5F"/>
          </a:solidFill>
          <a:ln w="12700">
            <a:solidFill>
              <a:srgbClr val="4A6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10912" y="58978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technology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42048" y="5897880"/>
            <a:ext cx="2139696" cy="502920"/>
          </a:xfrm>
          <a:prstGeom prst="roundRect">
            <a:avLst>
              <a:gd name="adj" fmla="val 49091"/>
            </a:avLst>
          </a:prstGeom>
          <a:solidFill>
            <a:srgbClr val="1F3A5F"/>
          </a:solidFill>
          <a:ln w="12700">
            <a:solidFill>
              <a:srgbClr val="4A6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42048" y="58978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talent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73184" y="5897880"/>
            <a:ext cx="2139696" cy="502920"/>
          </a:xfrm>
          <a:prstGeom prst="roundRect">
            <a:avLst>
              <a:gd name="adj" fmla="val 49091"/>
            </a:avLst>
          </a:prstGeom>
          <a:solidFill>
            <a:srgbClr val="1F3A5F"/>
          </a:solidFill>
          <a:ln w="12700">
            <a:solidFill>
              <a:srgbClr val="4A64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73184" y="58978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prosperity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going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government solutions, to long-term maintenance, to private IT, to our own products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771753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12 MONTHS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47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974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paid pilots with the ICE Department (e.g. Karma Praman, Nivesh Setu)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GeM; apply for Webel Technology empanelment; begin ISO 27001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of 12–15 in Kolkata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9377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First ₹1–2 cr revenue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07408" y="16916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0740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93208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 YEARS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1947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407408" y="24688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36008" y="26974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department solutions live, each with a multi-year maintenance contract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services: IoT metering and data logging to central portals; MSME automation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50–80; campus hiring from state colleges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36008" y="49377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₹10–15 cr revenue, 30%+ recurring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66176" y="169164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6617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51976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5+ YEARS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951976" y="1947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266176" y="24688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94776" y="26974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few needs that repeat across our projects and build them into products or platforms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and licence revenue that keeps the business sustainable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as our delivery hub for India-wide clients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94776" y="49377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94776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35%+ revenue from products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focus: prove value to the West Bengal ICE Department with fast, low-risk pilots, then earn long-term trust through maintenance that never lets a system go stale.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grow, and how we give back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revenue mix (%)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234440"/>
            <a:ext cx="5148072" cy="5029200"/>
          </a:xfrm>
          <a:prstGeom prst="roundRect">
            <a:avLst>
              <a:gd name="adj" fmla="val 218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46304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SOCIAL COMMITMENT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783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6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192024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annual revenue from year one, to a Bengal Social Impact Fund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0" y="2880360"/>
            <a:ext cx="4416552" cy="685800"/>
          </a:xfrm>
          <a:prstGeom prst="roundRect">
            <a:avLst>
              <a:gd name="adj" fmla="val 10667"/>
            </a:avLst>
          </a:prstGeom>
          <a:solidFill>
            <a:srgbClr val="15293F"/>
          </a:solidFill>
          <a:ln w="12700">
            <a:solidFill>
              <a:srgbClr val="1529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28803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profitable, rising to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revenue or 10% of net profit</a:t>
            </a:r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whichever is higher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749040"/>
            <a:ext cx="4416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 for youth, artisan and MSME training, women entrepreneurs, STEM labs in schools.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representatives and local bodies can propose programmes for their areas.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reported: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our Board in Schedule VII areas, with an annual public report.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6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separate: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total company revenue and independent of any contract. We win work only through open procurement.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Kirnova Technologies: Vision, Mission &amp; Goals</dc:title>
  <dc:subject>PptxGenJS Presentation</dc:subject>
  <dc:creator>PptxGenJS</dc:creator>
  <cp:lastModifiedBy>PptxGenJS</cp:lastModifiedBy>
  <cp:revision>1</cp:revision>
  <dcterms:created xsi:type="dcterms:W3CDTF">2026-09-24T06:24:58Z</dcterms:created>
  <dcterms:modified xsi:type="dcterms:W3CDTF">2026-09-24T06:24:58Z</dcterms:modified>
</cp:coreProperties>
</file>